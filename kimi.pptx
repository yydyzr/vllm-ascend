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notesMasterIdLst>
    <p:notesMasterId r:id="rId16"/>
  </p:notesMasterIdLst>
  <p:sldSz cx="12192000" cy="6858000" type="custom"/>
  <p:notesSz cx="12192000" cy="6858000"/>
  <p:embeddedFontLst>
    <p:embeddedFont>
      <p:font typeface="Mi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charts/chart9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bw</c:v>
          </c:tx>
          <c:spPr>
            <a:solidFill>
              <a:srgbClr val="C0000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分页 PA 路径(单机 TP8)</c:v>
              </c:pt>
              <c:pt idx="1">
                <c:v>连续 workspace 路径(本配置)</c:v>
              </c:pt>
              <c:pt idx="2">
                <c:v>机器能力(D2D 实测)</c:v>
              </c:pt>
            </c:strLit>
          </c:cat>
          <c:val>
            <c:numLit>
              <c:formatCode>General</c:formatCode>
              <c:ptCount val="3"/>
              <c:pt idx="0">
                <c:v>106</c:v>
              </c:pt>
              <c:pt idx="1">
                <c:v>403</c:v>
              </c:pt>
              <c:pt idx="2">
                <c:v>1600</c:v>
              </c:pt>
            </c:numLit>
          </c:val>
        </c:ser>
        <c:gapWidth val="15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800"/>
          <c:min val="0"/>
        </c:scaling>
        <c:delete val="0"/>
        <c:axPos val="l"/>
        <c:majorGridlines>
          <c:spPr>
            <a:ln w="12700">
              <a:solidFill>
                <a:srgbClr val="F2F2F2"/>
              </a:solidFill>
            </a:ln>
          </c:spPr>
        </c:majorGridlines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3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封面:Kimi-K3 10T 外推,256K×64并发 Decode Profiling 分析(Ascend 950DT 双机 DP4×TP4=EP16)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目录:采集口径与外推方法 / 实测分析 / EP128外推TPOT估算 / 结论与优化建议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摘要:attention占计算75%,投机解码净负收益,EP128外推TPOT≈78ms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口径:EP16按每卡16专家对齐EP128;并行形态/KV cache/topK/并发四项偏差已定位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attention占计算类75%,其余全部算子(含MoE)合计&lt;10%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EP128(93层/topK32):cycle≈430+37n ms,TPOT(acc=6)≈78ms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周期三段零重叠:42%空转;投机解码当前是净负收益;通信等待≈0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full-attn层12.9ms一家独大;通算比86:8且通信零等待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FIA有效带宽403GB/s:连续KV路径比分页路径快3.8倍,仍差机器4倍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TPOT由attention锁死:acceptance与FIA带宽是两根大杠杆,EP通信是二阶因素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优先级:修投机接受 &gt; FIA算子带宽 &gt; 压host空闲;通信与慢卡无需动作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封底:数据口径详见 decode_256k_c64_v2_report.md;原始 profiling prof_10t/EP16/decode_256k_c64_v2(16 rank)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2" Type="http://schemas.openxmlformats.org/officeDocument/2006/relationships/chart" Target="../charts/chart9_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deco-ring"/>
          <p:cNvSpPr/>
          <p:nvPr/>
        </p:nvSpPr>
        <p:spPr>
          <a:xfrm>
            <a:off x="9093200" y="1066800"/>
            <a:ext cx="2540000" cy="254000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</p:sp>
      <p:sp>
        <p:nvSpPr>
          <p:cNvPr id="4" name="deco-ring2"/>
          <p:cNvSpPr/>
          <p:nvPr/>
        </p:nvSpPr>
        <p:spPr>
          <a:xfrm>
            <a:off x="8585200" y="558800"/>
            <a:ext cx="3556000" cy="3556000"/>
          </a:xfrm>
          <a:prstGeom prst="ellipse">
            <a:avLst/>
          </a:prstGeom>
          <a:noFill/>
          <a:ln w="12700">
            <a:solidFill>
              <a:srgbClr val="C5C5C5"/>
            </a:solidFill>
          </a:ln>
        </p:spPr>
      </p:sp>
      <p:sp>
        <p:nvSpPr>
          <p:cNvPr id="5" name="deco-dot"/>
          <p:cNvSpPr/>
          <p:nvPr/>
        </p:nvSpPr>
        <p:spPr>
          <a:xfrm>
            <a:off x="10236200" y="1879600"/>
            <a:ext cx="1066800" cy="1066800"/>
          </a:xfrm>
          <a:prstGeom prst="ellipse">
            <a:avLst/>
          </a:prstGeom>
          <a:solidFill>
            <a:srgbClr val="FCE0E6"/>
          </a:solidFill>
          <a:ln>
            <a:noFill/>
          </a:ln>
        </p:spPr>
      </p:sp>
      <p:sp>
        <p:nvSpPr>
          <p:cNvPr id="6" name="cover-tag"/>
          <p:cNvSpPr txBox="1"/>
          <p:nvPr/>
        </p:nvSpPr>
        <p:spPr>
          <a:xfrm>
            <a:off x="1016000" y="16764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C00000"/>
                </a:solidFill>
                <a:latin typeface="MiSans"/>
                <a:ea typeface="MiSans"/>
              </a:rPr>
              <a:t>KIMI-K3 10T 外推 · PROFILING 汇报</a:t>
            </a:r>
            <a:endParaRPr lang="en-US" sz="1300" noProof="1"/>
          </a:p>
        </p:txBody>
      </p:sp>
      <p:sp>
        <p:nvSpPr>
          <p:cNvPr id="7" name="cover-title"/>
          <p:cNvSpPr txBox="1"/>
          <p:nvPr/>
        </p:nvSpPr>
        <p:spPr>
          <a:xfrm>
            <a:off x="1016000" y="2082800"/>
            <a:ext cx="889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4200" noProof="1" b="1">
                <a:solidFill>
                  <a:srgbClr val="1D1D1A"/>
                </a:solidFill>
                <a:latin typeface="MiSans"/>
                <a:ea typeface="MiSans"/>
              </a:rPr>
              <a:t>256K×64并发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4200" noProof="1" b="1">
                <a:solidFill>
                  <a:srgbClr val="C00000"/>
                </a:solidFill>
                <a:latin typeface="MiSans"/>
                <a:ea typeface="MiSans"/>
              </a:rPr>
              <a:t>Decode Profiling</a:t>
            </a:r>
            <a:r>
              <a:rPr lang="en-US" sz="4200" noProof="1" b="1">
                <a:solidFill>
                  <a:srgbClr val="1D1D1A"/>
                </a:solidFill>
                <a:latin typeface="MiSans"/>
                <a:ea typeface="MiSans"/>
              </a:rPr>
              <a:t> 分析</a:t>
            </a:r>
            <a:endParaRPr lang="en-US" sz="1600" noProof="1"/>
          </a:p>
        </p:txBody>
      </p:sp>
      <p:sp>
        <p:nvSpPr>
          <p:cNvPr id="8" name="cover-bar"/>
          <p:cNvSpPr/>
          <p:nvPr/>
        </p:nvSpPr>
        <p:spPr>
          <a:xfrm>
            <a:off x="1016000" y="3886200"/>
            <a:ext cx="11176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" name="meta-panel"/>
          <p:cNvSpPr/>
          <p:nvPr/>
        </p:nvSpPr>
        <p:spPr>
          <a:xfrm>
            <a:off x="1016000" y="4419600"/>
            <a:ext cx="10160000" cy="149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meta-labels"/>
          <p:cNvSpPr txBox="1"/>
          <p:nvPr/>
        </p:nvSpPr>
        <p:spPr>
          <a:xfrm>
            <a:off x="1320800" y="4648200"/>
            <a:ext cx="228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环境</a:t>
            </a:r>
            <a:endParaRPr lang="en-US" sz="10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数据</a:t>
            </a:r>
            <a:endParaRPr lang="en-US" sz="10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日期</a:t>
            </a:r>
            <a:endParaRPr lang="en-US" sz="1000" noProof="1"/>
          </a:p>
        </p:txBody>
      </p:sp>
      <p:sp>
        <p:nvSpPr>
          <p:cNvPr id="11" name="meta-values"/>
          <p:cNvSpPr txBox="1"/>
          <p:nvPr/>
        </p:nvSpPr>
        <p:spPr>
          <a:xfrm>
            <a:off x="1320800" y="4648200"/>
            <a:ext cx="9550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Ascend 950DT</a:t>
            </a: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 双机 DP4×TP4 = EP16(dummy 权重 / W4A8 MXFP)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decode_256k_c64_v2,16/16 rank 全量解析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2026-09-09</a:t>
            </a:r>
            <a:endParaRPr lang="en-US" sz="1100" noProof="1"/>
          </a:p>
        </p:txBody>
      </p:sp>
      <p:sp>
        <p:nvSpPr>
          <p:cNvPr id="12" name="foot-line"/>
          <p:cNvSpPr/>
          <p:nvPr/>
        </p:nvSpPr>
        <p:spPr>
          <a:xfrm>
            <a:off x="1016000" y="6350000"/>
            <a:ext cx="10160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3" name="foot-left"/>
          <p:cNvSpPr txBox="1"/>
          <p:nvPr/>
        </p:nvSpPr>
        <p:spPr>
          <a:xfrm>
            <a:off x="1016000" y="645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4" name="foot-right"/>
          <p:cNvSpPr txBox="1"/>
          <p:nvPr/>
        </p:nvSpPr>
        <p:spPr>
          <a:xfrm>
            <a:off x="8636000" y="6451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Kimi-K3 10T 外推 · Decode Profiling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title"/>
          <p:cNvSpPr txBox="1"/>
          <p:nvPr/>
        </p:nvSpPr>
        <p:spPr>
          <a:xfrm>
            <a:off x="762000" y="7112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noProof="1" b="1">
                <a:solidFill>
                  <a:srgbClr val="1D1D1A"/>
                </a:solidFill>
                <a:latin typeface="MiSans"/>
                <a:ea typeface="MiSans"/>
              </a:rPr>
              <a:t>目录</a:t>
            </a:r>
            <a:r>
              <a:rPr lang="en-US" sz="1400" noProof="1">
                <a:solidFill>
                  <a:srgbClr val="929292"/>
                </a:solidFill>
                <a:latin typeface="MiSans"/>
                <a:ea typeface="MiSans"/>
              </a:rPr>
              <a:t>　CONTENTS</a:t>
            </a:r>
            <a:endParaRPr lang="en-US" sz="1600" noProof="1"/>
          </a:p>
        </p:txBody>
      </p:sp>
      <p:sp>
        <p:nvSpPr>
          <p:cNvPr id="3" name="toc-bar"/>
          <p:cNvSpPr/>
          <p:nvPr/>
        </p:nvSpPr>
        <p:spPr>
          <a:xfrm>
            <a:off x="762000" y="1498600"/>
            <a:ext cx="76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oc1-num"/>
          <p:cNvSpPr txBox="1"/>
          <p:nvPr/>
        </p:nvSpPr>
        <p:spPr>
          <a:xfrm>
            <a:off x="762000" y="19812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C00000"/>
                </a:solidFill>
                <a:latin typeface="MiSans"/>
                <a:ea typeface="MiSans"/>
              </a:rPr>
              <a:t>01</a:t>
            </a:r>
            <a:endParaRPr lang="en-US" sz="1600" noProof="1"/>
          </a:p>
        </p:txBody>
      </p:sp>
      <p:sp>
        <p:nvSpPr>
          <p:cNvPr id="5" name="toc1-text"/>
          <p:cNvSpPr txBox="1"/>
          <p:nvPr/>
        </p:nvSpPr>
        <p:spPr>
          <a:xfrm>
            <a:off x="2032000" y="19812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D1D1A"/>
                </a:solidFill>
                <a:latin typeface="MiSans"/>
                <a:ea typeface="MiSans"/>
              </a:rPr>
              <a:t>采集口径与外推方法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929292"/>
                </a:solidFill>
                <a:latin typeface="MiSans"/>
                <a:ea typeface="MiSans"/>
              </a:rPr>
              <a:t>EP16 按"每卡16专家"对齐 EP128,三项偏差已定位</a:t>
            </a:r>
            <a:endParaRPr lang="en-US" sz="1600" noProof="1"/>
          </a:p>
        </p:txBody>
      </p:sp>
      <p:sp>
        <p:nvSpPr>
          <p:cNvPr id="6" name="toc1-page"/>
          <p:cNvSpPr txBox="1"/>
          <p:nvPr/>
        </p:nvSpPr>
        <p:spPr>
          <a:xfrm>
            <a:off x="10414000" y="19812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29292"/>
                </a:solidFill>
                <a:latin typeface="MiSans"/>
                <a:ea typeface="MiSans"/>
              </a:rPr>
              <a:t>P4</a:t>
            </a:r>
            <a:endParaRPr lang="en-US" sz="1600" noProof="1"/>
          </a:p>
        </p:txBody>
      </p:sp>
      <p:sp>
        <p:nvSpPr>
          <p:cNvPr id="7" name="toc-line1"/>
          <p:cNvSpPr/>
          <p:nvPr/>
        </p:nvSpPr>
        <p:spPr>
          <a:xfrm>
            <a:off x="762000" y="2819400"/>
            <a:ext cx="10668000" cy="12700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sp>
      <p:sp>
        <p:nvSpPr>
          <p:cNvPr id="8" name="toc2-num"/>
          <p:cNvSpPr txBox="1"/>
          <p:nvPr/>
        </p:nvSpPr>
        <p:spPr>
          <a:xfrm>
            <a:off x="762000" y="30480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C00000"/>
                </a:solidFill>
                <a:latin typeface="MiSans"/>
                <a:ea typeface="MiSans"/>
              </a:rPr>
              <a:t>02</a:t>
            </a:r>
            <a:endParaRPr lang="en-US" sz="1600" noProof="1"/>
          </a:p>
        </p:txBody>
      </p:sp>
      <p:sp>
        <p:nvSpPr>
          <p:cNvPr id="9" name="toc2-text"/>
          <p:cNvSpPr txBox="1"/>
          <p:nvPr/>
        </p:nvSpPr>
        <p:spPr>
          <a:xfrm>
            <a:off x="2032000" y="30480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D1D1A"/>
                </a:solidFill>
                <a:latin typeface="MiSans"/>
                <a:ea typeface="MiSans"/>
              </a:rPr>
              <a:t>实测分析:周期 / 算子 / 通算 / 空泡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929292"/>
                </a:solidFill>
                <a:latin typeface="MiSans"/>
                <a:ea typeface="MiSans"/>
              </a:rPr>
              <a:t>周期三段零重叠、算子分布、层耗时拆解、FIA 带宽证据链</a:t>
            </a:r>
            <a:endParaRPr lang="en-US" sz="1600" noProof="1"/>
          </a:p>
        </p:txBody>
      </p:sp>
      <p:sp>
        <p:nvSpPr>
          <p:cNvPr id="10" name="toc2-page"/>
          <p:cNvSpPr txBox="1"/>
          <p:nvPr/>
        </p:nvSpPr>
        <p:spPr>
          <a:xfrm>
            <a:off x="10414000" y="30480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29292"/>
                </a:solidFill>
                <a:latin typeface="MiSans"/>
                <a:ea typeface="MiSans"/>
              </a:rPr>
              <a:t>P5–P8</a:t>
            </a:r>
            <a:endParaRPr lang="en-US" sz="1600" noProof="1"/>
          </a:p>
        </p:txBody>
      </p:sp>
      <p:sp>
        <p:nvSpPr>
          <p:cNvPr id="11" name="toc-line2"/>
          <p:cNvSpPr/>
          <p:nvPr/>
        </p:nvSpPr>
        <p:spPr>
          <a:xfrm>
            <a:off x="762000" y="3886200"/>
            <a:ext cx="10668000" cy="12700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sp>
      <p:sp>
        <p:nvSpPr>
          <p:cNvPr id="12" name="toc3-num"/>
          <p:cNvSpPr txBox="1"/>
          <p:nvPr/>
        </p:nvSpPr>
        <p:spPr>
          <a:xfrm>
            <a:off x="762000" y="41148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C00000"/>
                </a:solidFill>
                <a:latin typeface="MiSans"/>
                <a:ea typeface="MiSans"/>
              </a:rPr>
              <a:t>03</a:t>
            </a:r>
            <a:endParaRPr lang="en-US" sz="1600" noProof="1"/>
          </a:p>
        </p:txBody>
      </p:sp>
      <p:sp>
        <p:nvSpPr>
          <p:cNvPr id="13" name="toc3-text"/>
          <p:cNvSpPr txBox="1"/>
          <p:nvPr/>
        </p:nvSpPr>
        <p:spPr>
          <a:xfrm>
            <a:off x="2032000" y="41148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D1D1A"/>
                </a:solidFill>
                <a:latin typeface="MiSans"/>
                <a:ea typeface="MiSans"/>
              </a:rPr>
              <a:t>EP128 外推 TPOT 估算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929292"/>
                </a:solidFill>
                <a:latin typeface="MiSans"/>
                <a:ea typeface="MiSans"/>
              </a:rPr>
              <a:t>cycle ≈ 430+37n ms,TPOT(acc=6) ≈ 78ms;杠杆敏感性分析</a:t>
            </a:r>
            <a:endParaRPr lang="en-US" sz="1600" noProof="1"/>
          </a:p>
        </p:txBody>
      </p:sp>
      <p:sp>
        <p:nvSpPr>
          <p:cNvPr id="14" name="toc3-page"/>
          <p:cNvSpPr txBox="1"/>
          <p:nvPr/>
        </p:nvSpPr>
        <p:spPr>
          <a:xfrm>
            <a:off x="10414000" y="41148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29292"/>
                </a:solidFill>
                <a:latin typeface="MiSans"/>
                <a:ea typeface="MiSans"/>
              </a:rPr>
              <a:t>P9–P10</a:t>
            </a:r>
            <a:endParaRPr lang="en-US" sz="1600" noProof="1"/>
          </a:p>
        </p:txBody>
      </p:sp>
      <p:sp>
        <p:nvSpPr>
          <p:cNvPr id="15" name="toc-line3"/>
          <p:cNvSpPr/>
          <p:nvPr/>
        </p:nvSpPr>
        <p:spPr>
          <a:xfrm>
            <a:off x="762000" y="4953000"/>
            <a:ext cx="10668000" cy="12700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sp>
      <p:sp>
        <p:nvSpPr>
          <p:cNvPr id="16" name="toc4-num"/>
          <p:cNvSpPr txBox="1"/>
          <p:nvPr/>
        </p:nvSpPr>
        <p:spPr>
          <a:xfrm>
            <a:off x="762000" y="51816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C00000"/>
                </a:solidFill>
                <a:latin typeface="MiSans"/>
                <a:ea typeface="MiSans"/>
              </a:rPr>
              <a:t>04</a:t>
            </a:r>
            <a:endParaRPr lang="en-US" sz="1600" noProof="1"/>
          </a:p>
        </p:txBody>
      </p:sp>
      <p:sp>
        <p:nvSpPr>
          <p:cNvPr id="17" name="toc4-text"/>
          <p:cNvSpPr txBox="1"/>
          <p:nvPr/>
        </p:nvSpPr>
        <p:spPr>
          <a:xfrm>
            <a:off x="2032000" y="51816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D1D1A"/>
                </a:solidFill>
                <a:latin typeface="MiSans"/>
                <a:ea typeface="MiSans"/>
              </a:rPr>
              <a:t>结论与优化建议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929292"/>
                </a:solidFill>
                <a:latin typeface="MiSans"/>
                <a:ea typeface="MiSans"/>
              </a:rPr>
              <a:t>优先级:修投机接受 &gt; FIA 算子带宽 &gt; 压 host 空闲</a:t>
            </a:r>
            <a:endParaRPr lang="en-US" sz="1600" noProof="1"/>
          </a:p>
        </p:txBody>
      </p:sp>
      <p:sp>
        <p:nvSpPr>
          <p:cNvPr id="18" name="toc4-page"/>
          <p:cNvSpPr txBox="1"/>
          <p:nvPr/>
        </p:nvSpPr>
        <p:spPr>
          <a:xfrm>
            <a:off x="10414000" y="51816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29292"/>
                </a:solidFill>
                <a:latin typeface="MiSans"/>
                <a:ea typeface="MiSans"/>
              </a:rPr>
              <a:t>P11</a:t>
            </a:r>
            <a:endParaRPr lang="en-US" sz="1600" noProof="1"/>
          </a:p>
        </p:txBody>
      </p:sp>
      <p:sp>
        <p:nvSpPr>
          <p:cNvPr id="19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21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2 / 12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摘要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采集口径　实测分析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摘要:attention 占计算 75%,投机解码净负收益,EP128 外推 TPOT≈78ms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6" name="concl-label"/>
          <p:cNvSpPr txBox="1"/>
          <p:nvPr/>
        </p:nvSpPr>
        <p:spPr>
          <a:xfrm>
            <a:off x="508000" y="11684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00000"/>
                </a:solidFill>
                <a:latin typeface="MiSans"/>
                <a:ea typeface="MiSans"/>
              </a:rPr>
              <a:t>分析结论</a:t>
            </a:r>
            <a:endParaRPr lang="en-US" sz="1300" noProof="1"/>
          </a:p>
        </p:txBody>
      </p:sp>
      <p:sp>
        <p:nvSpPr>
          <p:cNvPr id="7" name="concl-body"/>
          <p:cNvSpPr txBox="1"/>
          <p:nvPr/>
        </p:nvSpPr>
        <p:spPr>
          <a:xfrm>
            <a:off x="508000" y="1473200"/>
            <a:ext cx="63500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周期结构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:cycle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57.7ms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 = verify 33.3 + draft 16.4 + host idle 8.1;TPOT =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54ms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(acceptance 实测仅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1.07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)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投机解码净负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:draft 花 28% 周期换 ~0.07 token;关掉投机 TPOT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41ms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,快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24%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算子分布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:FusedInferAttentionScore 占计算类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75%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;MoE(非融合)整层仅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0.42ms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通信极轻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:通算比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86:8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,CCU_LAUNCH(即通信任务)最长 0.5ms,无慢卡、无 straggler 等待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外推 EP128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(93层/topK32):cycle ≈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430+37n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 ms,TPOT(acceptance=6)≈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78ms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(n=1)</a:t>
            </a:r>
            <a:endParaRPr lang="en-US" sz="1200" noProof="1"/>
          </a:p>
        </p:txBody>
      </p:sp>
      <p:graphicFrame>
        <p:nvGraphicFramePr>
          <p:cNvPr id="8" name="kpi-table"/>
          <p:cNvGraphicFramePr>
            <a:graphicFrameLocks noGrp="1"/>
          </p:cNvGraphicFramePr>
          <p:nvPr/>
        </p:nvGraphicFramePr>
        <p:xfrm>
          <a:off x="7112000" y="1168400"/>
          <a:ext cx="4572000" cy="46228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920240"/>
              </a:tblGrid>
              <a:tr h="554736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81361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cycle / TPOT 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57.7 / 54</a:t>
                      </a: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 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8层·topK16·256专家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361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acceptance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1.07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7个 draft 基本全拒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81361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FIA 有效带宽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403</a:t>
                      </a: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 GB/s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机器能力 1.6TB/s 的 25%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361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通算比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86 : 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 : 通信执行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81361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EP128 TPOT(n=1)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78</a:t>
                      </a: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 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93层·topK32·acc=6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0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1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3 / 12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采集口径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实测分析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MiSans"/>
                <a:ea typeface="MiSans"/>
              </a:rPr>
              <a:t>采集配置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6" name="method-body"/>
          <p:cNvSpPr txBox="1"/>
          <p:nvPr/>
        </p:nvSpPr>
        <p:spPr>
          <a:xfrm>
            <a:off x="508000" y="1212850"/>
            <a:ext cx="11176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D1D1A"/>
                </a:solidFill>
                <a:latin typeface="MiSans"/>
                <a:ea typeface="MiSans"/>
              </a:rPr>
              <a:t>规模 EP16，并发64，输入256k，总专家数 2048÷(128/16)=</a:t>
            </a:r>
            <a:r>
              <a:rPr lang="en-US" sz="1800" noProof="1" b="1">
                <a:solidFill>
                  <a:srgbClr val="1D1D1A"/>
                </a:solidFill>
                <a:latin typeface="MiSans"/>
                <a:ea typeface="MiSans"/>
              </a:rPr>
              <a:t>256</a:t>
            </a:r>
            <a:r>
              <a:rPr lang="en-US" sz="1800" noProof="1">
                <a:solidFill>
                  <a:srgbClr val="1D1D1A"/>
                </a:solidFill>
                <a:latin typeface="MiSans"/>
                <a:ea typeface="MiSans"/>
              </a:rPr>
              <a:t>, </a:t>
            </a:r>
            <a:r>
              <a:rPr lang="en-US" sz="1800" noProof="1" b="1">
                <a:solidFill>
                  <a:srgbClr val="1D1D1A"/>
                </a:solidFill>
                <a:latin typeface="MiSans"/>
                <a:ea typeface="MiSans"/>
              </a:rPr>
              <a:t>每卡专家数 = 16, 与 EP128 严格一致</a:t>
            </a:r>
            <a:endParaRPr lang="en-US" sz="1800" noProof="1"/>
          </a:p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D1D1A"/>
                </a:solidFill>
                <a:latin typeface="MiSans"/>
                <a:ea typeface="MiSans"/>
              </a:rPr>
              <a:t>层数减为</a:t>
            </a:r>
            <a:r>
              <a:rPr lang="en-US" sz="1800" noProof="1" b="1">
                <a:solidFill>
                  <a:srgbClr val="1D1D1A"/>
                </a:solidFill>
                <a:latin typeface="MiSans"/>
                <a:ea typeface="MiSans"/>
              </a:rPr>
              <a:t>8层 </a:t>
            </a:r>
            <a:r>
              <a:rPr lang="en-US" sz="1800" noProof="1">
                <a:solidFill>
                  <a:srgbClr val="1D1D1A"/>
                </a:solidFill>
                <a:latin typeface="MiSans"/>
                <a:ea typeface="MiSans"/>
              </a:rPr>
              <a:t>(MLA:KDA = 1:3)</a:t>
            </a:r>
            <a:endParaRPr lang="en-US" sz="1800" noProof="1"/>
          </a:p>
        </p:txBody>
      </p:sp>
      <p:graphicFrame>
        <p:nvGraphicFramePr>
          <p:cNvPr id="7" name="gap-table"/>
          <p:cNvGraphicFramePr>
            <a:graphicFrameLocks noGrp="1"/>
          </p:cNvGraphicFramePr>
          <p:nvPr/>
        </p:nvGraphicFramePr>
        <p:xfrm>
          <a:off x="508000" y="2514600"/>
          <a:ext cx="11176000" cy="3048000"/>
        </p:xfrm>
        <a:graphic>
          <a:graphicData uri="http://schemas.openxmlformats.org/drawingml/2006/table">
            <a:tbl>
              <a:tblPr/>
              <a:tblGrid>
                <a:gridCol w="1341120"/>
                <a:gridCol w="2682240"/>
                <a:gridCol w="2905760"/>
                <a:gridCol w="4246880"/>
              </a:tblGrid>
              <a:tr h="466165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原目标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实际采集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偏差原因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1039906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并行形态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DP16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DP4TP4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纯DP+dspark 不支持: TP1 下 draft 不分片,其 KV page 成最大值;unify_kv_cache_spec_page_size 整除失败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024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c8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c16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框架侧暂不支持 KV cache c8,按 c16 采集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1039906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topK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MoeDistributeDispatch/Combine 算子 topK 上限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9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0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4 / 12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实测分析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【实测】attention 占计算类 75%,其余全部算子(含 MoE)合计 &lt;10%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ops-table"/>
          <p:cNvGraphicFramePr>
            <a:graphicFrameLocks noGrp="1"/>
          </p:cNvGraphicFramePr>
          <p:nvPr/>
        </p:nvGraphicFramePr>
        <p:xfrm>
          <a:off x="508000" y="1143000"/>
          <a:ext cx="11176000" cy="3149600"/>
        </p:xfrm>
        <a:graphic>
          <a:graphicData uri="http://schemas.openxmlformats.org/drawingml/2006/table">
            <a:tbl>
              <a:tblPr/>
              <a:tblGrid>
                <a:gridCol w="4693920"/>
                <a:gridCol w="1564640"/>
                <a:gridCol w="1564640"/>
                <a:gridCol w="1564640"/>
                <a:gridCol w="1788160"/>
              </a:tblGrid>
              <a:tr h="352755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算子(按总时长降序)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总时长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占 span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占计算类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FusedInferAttentionScore(target 12.0ms + draft 2.58ms)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1988ms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63.8%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75.1%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aclnnMatmul(MatMulV3,qkv / o_proj / router / lm head)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113ms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4.3%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SituMxQuant(共享专家量化)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89ms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2.9%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3.4%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UBDMA(通信搬运)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85ms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aclnnGroupedMatmul(专家 GEMM×2/层)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2.3%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MoeDistributeDispatchV3(EP 通信)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61ms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1.9%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aclnnRecurrentKda(KDA 扫描)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48ms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6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其余小算子(n≈31k,含 QuantBatchMatmulV5 32ms / CombineV3 14ms 等)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~240ms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混合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stat1-panel"/>
          <p:cNvSpPr/>
          <p:nvPr/>
        </p:nvSpPr>
        <p:spPr>
          <a:xfrm>
            <a:off x="508000" y="4521200"/>
            <a:ext cx="3556000" cy="1270000"/>
          </a:xfrm>
          <a:prstGeom prst="rect">
            <a:avLst/>
          </a:prstGeom>
          <a:solidFill>
            <a:srgbClr val="FCE0E6"/>
          </a:solidFill>
          <a:ln>
            <a:noFill/>
          </a:ln>
        </p:spPr>
      </p:sp>
      <p:sp>
        <p:nvSpPr>
          <p:cNvPr id="8" name="stat1-text"/>
          <p:cNvSpPr txBox="1"/>
          <p:nvPr/>
        </p:nvSpPr>
        <p:spPr>
          <a:xfrm>
            <a:off x="711200" y="4648200"/>
            <a:ext cx="31496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00000"/>
                </a:solidFill>
                <a:latin typeface="MiSans"/>
                <a:ea typeface="MiSans"/>
              </a:rPr>
              <a:t>75.1%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FIA 占计算类 —— 唯一耗时主体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target 单层 12.0ms / draft 单层 2.58ms</a:t>
            </a:r>
            <a:endParaRPr lang="en-US" sz="1600" noProof="1"/>
          </a:p>
          <a:p>
            <a:pPr algn="l"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9" name="stat2-panel"/>
          <p:cNvSpPr/>
          <p:nvPr/>
        </p:nvSpPr>
        <p:spPr>
          <a:xfrm>
            <a:off x="4318000" y="4521200"/>
            <a:ext cx="3556000" cy="12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stat2-text"/>
          <p:cNvSpPr txBox="1"/>
          <p:nvPr/>
        </p:nvSpPr>
        <p:spPr>
          <a:xfrm>
            <a:off x="4521200" y="4648200"/>
            <a:ext cx="31496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D1D1A"/>
                </a:solidFill>
                <a:latin typeface="MiSans"/>
                <a:ea typeface="MiSans"/>
              </a:rPr>
              <a:t>0.42ms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MoE 整层(非融合)不构成瓶颈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dispatch 0.16 + permute 0.01 + GEMM 0.19 + combine 0.04</a:t>
            </a:r>
            <a:endParaRPr lang="en-US" sz="1600" noProof="1"/>
          </a:p>
        </p:txBody>
      </p:sp>
      <p:sp>
        <p:nvSpPr>
          <p:cNvPr id="11" name="stat3-panel"/>
          <p:cNvSpPr/>
          <p:nvPr/>
        </p:nvSpPr>
        <p:spPr>
          <a:xfrm>
            <a:off x="8128000" y="4521200"/>
            <a:ext cx="3556000" cy="12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stat3-text"/>
          <p:cNvSpPr txBox="1"/>
          <p:nvPr/>
        </p:nvSpPr>
        <p:spPr>
          <a:xfrm>
            <a:off x="8331200" y="4648200"/>
            <a:ext cx="31496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D1D1A"/>
                </a:solidFill>
                <a:latin typeface="MiSans"/>
                <a:ea typeface="MiSans"/>
              </a:rPr>
              <a:t>0.5ms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CCU_LAUNCH 4320 个共 90ms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p50 0.02ms、max 0.5ms —— 通信轻到可以忽略</a:t>
            </a:r>
            <a:endParaRPr lang="en-US" sz="1600" noProof="1"/>
          </a:p>
        </p:txBody>
      </p:sp>
      <p:sp>
        <p:nvSpPr>
          <p:cNvPr id="13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4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5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6 / 12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实测分析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EP128外推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MiSans"/>
                <a:ea typeface="MiSans"/>
              </a:rPr>
              <a:t>EP128外推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6" name="dim-body"/>
          <p:cNvSpPr txBox="1"/>
          <p:nvPr/>
        </p:nvSpPr>
        <p:spPr>
          <a:xfrm>
            <a:off x="508000" y="1092200"/>
            <a:ext cx="111760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外推维度:</a:t>
            </a:r>
            <a:endParaRPr lang="en-US" sz="12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① 层数 8→93 (24 MLA + 69 KDA + 92 MoE, layer0 唯一 dense);</a:t>
            </a:r>
            <a:endParaRPr lang="en-US" sz="12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② topK 16→32 (GMM 行数与 dispatch/combine 流量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×2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);</a:t>
            </a:r>
            <a:endParaRPr lang="en-US" sz="12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③ EP16→128 (作用于 dispatch/combine,放大系数 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×n</a:t>
            </a:r>
            <a:r>
              <a:rPr lang="en-US" sz="1200" noProof="1">
                <a:solidFill>
                  <a:srgbClr val="1D1D1A"/>
                </a:solidFill>
                <a:latin typeface="MiSans"/>
                <a:ea typeface="MiSans"/>
              </a:rPr>
              <a:t>,参数化)</a:t>
            </a:r>
            <a:endParaRPr lang="en-US" sz="1200" noProof="1"/>
          </a:p>
        </p:txBody>
      </p:sp>
      <p:graphicFrame>
        <p:nvGraphicFramePr>
          <p:cNvPr id="7" name="ext-table"/>
          <p:cNvGraphicFramePr>
            <a:graphicFrameLocks noGrp="1"/>
          </p:cNvGraphicFramePr>
          <p:nvPr/>
        </p:nvGraphicFramePr>
        <p:xfrm>
          <a:off x="508000" y="2209800"/>
          <a:ext cx="11176000" cy="3810000"/>
        </p:xfrm>
        <a:graphic>
          <a:graphicData uri="http://schemas.openxmlformats.org/drawingml/2006/table">
            <a:tbl>
              <a:tblPr/>
              <a:tblGrid>
                <a:gridCol w="3799840"/>
                <a:gridCol w="2458720"/>
                <a:gridCol w="1229360"/>
                <a:gridCol w="1229360"/>
                <a:gridCol w="1229360"/>
                <a:gridCol w="1229360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项(ms/cycle)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单价来源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n=1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n=2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n=4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n=8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MLA×24(FIA 12.4/层)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298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298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298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298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KDA×69(0.21/层)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MoE GMM×92(0.19×2)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实测×topK2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route / permute×92(0.02×2)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实测×topK2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dispatch+combine×92(0.20×2×n)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×topK2×EP系数n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294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↳ MoE 单层合计(ms/层)=0.38+0.04+0.40n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0.82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1.22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2.02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3.62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共享专家×92 / 杂项+lmhead / draft / idle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25/30/16/8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25/30/16/8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25/30/16/8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25/30/16/8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ITL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430+37n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467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504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577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724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TPOT(ITL/6)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78ms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84ms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96ms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121ms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9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0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9 / 12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实测分析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【实测】周期三段零重叠:42% 空转,投机解码当前是净负收益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cycle-table"/>
          <p:cNvGraphicFramePr>
            <a:graphicFrameLocks noGrp="1"/>
          </p:cNvGraphicFramePr>
          <p:nvPr/>
        </p:nvGraphicFramePr>
        <p:xfrm>
          <a:off x="508000" y="1168400"/>
          <a:ext cx="5842000" cy="2032000"/>
        </p:xfrm>
        <a:graphic>
          <a:graphicData uri="http://schemas.openxmlformats.org/drawingml/2006/table">
            <a:tbl>
              <a:tblPr/>
              <a:tblGrid>
                <a:gridCol w="2453640"/>
                <a:gridCol w="934720"/>
                <a:gridCol w="1285240"/>
                <a:gridCol w="1168400"/>
              </a:tblGrid>
              <a:tr h="40640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耗时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占比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target verify 前向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S25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33.3ms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draft 前向(5层)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S22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16.4ms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纯空闲(host 编排)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8.1ms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cycle 合计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57.7ms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pot-panel"/>
          <p:cNvSpPr/>
          <p:nvPr/>
        </p:nvSpPr>
        <p:spPr>
          <a:xfrm>
            <a:off x="508000" y="3403600"/>
            <a:ext cx="5842000" cy="149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tpot-label"/>
          <p:cNvSpPr txBox="1"/>
          <p:nvPr/>
        </p:nvSpPr>
        <p:spPr>
          <a:xfrm>
            <a:off x="711200" y="3530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TPOT 推算</a:t>
            </a:r>
            <a:endParaRPr lang="en-US" sz="1200" noProof="1"/>
          </a:p>
        </p:txBody>
      </p:sp>
      <p:sp>
        <p:nvSpPr>
          <p:cNvPr id="9" name="tpot-body"/>
          <p:cNvSpPr txBox="1"/>
          <p:nvPr/>
        </p:nvSpPr>
        <p:spPr>
          <a:xfrm>
            <a:off x="711200" y="3810000"/>
            <a:ext cx="5435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acceptance 实测 </a:t>
            </a:r>
            <a:r>
              <a:rPr lang="en-US" sz="1100" noProof="1" b="1">
                <a:solidFill>
                  <a:srgbClr val="1D1D1A"/>
                </a:solidFill>
                <a:latin typeface="MiSans"/>
                <a:ea typeface="MiSans"/>
              </a:rPr>
              <a:t>1.07</a:t>
            </a: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(7 个 draft 基本全被拒)</a:t>
            </a:r>
            <a:endParaRPr lang="en-US" sz="1100" noProof="1"/>
          </a:p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TPOT = cycle ÷ acc = </a:t>
            </a:r>
            <a:r>
              <a:rPr lang="en-US" sz="1100" noProof="1" b="1">
                <a:solidFill>
                  <a:srgbClr val="1D1D1A"/>
                </a:solidFill>
                <a:latin typeface="MiSans"/>
                <a:ea typeface="MiSans"/>
              </a:rPr>
              <a:t>54 ms/token</a:t>
            </a:r>
            <a:endParaRPr lang="en-US" sz="1100" noProof="1"/>
          </a:p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若关掉投机:</a:t>
            </a:r>
            <a:r>
              <a:rPr lang="en-US" sz="1100" noProof="1" b="1">
                <a:solidFill>
                  <a:srgbClr val="1D1D1A"/>
                </a:solidFill>
                <a:latin typeface="MiSans"/>
                <a:ea typeface="MiSans"/>
              </a:rPr>
              <a:t>41 ms</a:t>
            </a: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(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快 24%</a:t>
            </a:r>
            <a:r>
              <a:rPr lang="en-US" sz="1100" noProof="1">
                <a:solidFill>
                  <a:srgbClr val="1D1D1A"/>
                </a:solidFill>
                <a:latin typeface="MiSans"/>
                <a:ea typeface="MiSans"/>
              </a:rPr>
              <a:t>)</a:t>
            </a:r>
            <a:endParaRPr lang="en-US" sz="1100" noProof="1"/>
          </a:p>
        </p:txBody>
      </p:sp>
      <p:sp>
        <p:nvSpPr>
          <p:cNvPr id="10" name="pie-title"/>
          <p:cNvSpPr txBox="1"/>
          <p:nvPr/>
        </p:nvSpPr>
        <p:spPr>
          <a:xfrm>
            <a:off x="6858000" y="1168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cycle 构成(合计 57.7ms)</a:t>
            </a:r>
            <a:endParaRPr lang="en-US" sz="1200" noProof="1"/>
          </a:p>
        </p:txBody>
      </p:sp>
      <p:sp>
        <p:nvSpPr>
          <p:cNvPr id="11" name="seg1"/>
          <p:cNvSpPr/>
          <p:nvPr/>
        </p:nvSpPr>
        <p:spPr>
          <a:xfrm>
            <a:off x="6858000" y="1498600"/>
            <a:ext cx="27813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2" name="seg2"/>
          <p:cNvSpPr/>
          <p:nvPr/>
        </p:nvSpPr>
        <p:spPr>
          <a:xfrm>
            <a:off x="9639300" y="1498600"/>
            <a:ext cx="1371600" cy="457200"/>
          </a:xfrm>
          <a:prstGeom prst="rect">
            <a:avLst/>
          </a:prstGeom>
          <a:solidFill>
            <a:srgbClr val="FBA000"/>
          </a:solidFill>
          <a:ln>
            <a:noFill/>
          </a:ln>
        </p:spPr>
      </p:sp>
      <p:sp>
        <p:nvSpPr>
          <p:cNvPr id="13" name="seg3"/>
          <p:cNvSpPr/>
          <p:nvPr/>
        </p:nvSpPr>
        <p:spPr>
          <a:xfrm>
            <a:off x="11010900" y="1498600"/>
            <a:ext cx="673100" cy="4572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4" name="seg1-label"/>
          <p:cNvSpPr txBox="1"/>
          <p:nvPr/>
        </p:nvSpPr>
        <p:spPr>
          <a:xfrm>
            <a:off x="6858000" y="1498600"/>
            <a:ext cx="2781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verify 33.3ms · 58%</a:t>
            </a:r>
            <a:endParaRPr lang="en-US" sz="1000" noProof="1"/>
          </a:p>
        </p:txBody>
      </p:sp>
      <p:sp>
        <p:nvSpPr>
          <p:cNvPr id="15" name="seg2-label"/>
          <p:cNvSpPr txBox="1"/>
          <p:nvPr/>
        </p:nvSpPr>
        <p:spPr>
          <a:xfrm>
            <a:off x="9639300" y="149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1D1D1A"/>
                </a:solidFill>
                <a:latin typeface="MiSans"/>
                <a:ea typeface="MiSans"/>
              </a:rPr>
              <a:t>draft 16.4</a:t>
            </a:r>
            <a:endParaRPr lang="en-US" sz="900" noProof="1"/>
          </a:p>
        </p:txBody>
      </p:sp>
      <p:sp>
        <p:nvSpPr>
          <p:cNvPr id="16" name="seg3-label"/>
          <p:cNvSpPr txBox="1"/>
          <p:nvPr/>
        </p:nvSpPr>
        <p:spPr>
          <a:xfrm>
            <a:off x="11010900" y="1498600"/>
            <a:ext cx="673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D1D1A"/>
                </a:solidFill>
                <a:latin typeface="MiSans"/>
                <a:ea typeface="MiSans"/>
              </a:rPr>
              <a:t>8.1</a:t>
            </a:r>
            <a:endParaRPr lang="en-US" sz="900" noProof="1"/>
          </a:p>
        </p:txBody>
      </p:sp>
      <p:sp>
        <p:nvSpPr>
          <p:cNvPr id="17" name="pie-legend"/>
          <p:cNvSpPr txBox="1"/>
          <p:nvPr/>
        </p:nvSpPr>
        <p:spPr>
          <a:xfrm>
            <a:off x="6858000" y="2108200"/>
            <a:ext cx="482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000" noProof="1">
                <a:solidFill>
                  <a:srgbClr val="C00000"/>
                </a:solidFill>
                <a:latin typeface="MiSans"/>
                <a:ea typeface="MiSans"/>
              </a:rPr>
              <a:t>■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verify 前向(S25)33.3ms,占 58%</a:t>
            </a:r>
            <a:endParaRPr lang="en-US" sz="1000" noProof="1"/>
          </a:p>
          <a:p>
            <a:pPr algn="l">
              <a:lnSpc>
                <a:spcPct val="160000"/>
              </a:lnSpc>
            </a:pPr>
            <a:r>
              <a:rPr lang="en-US" sz="1000" noProof="1">
                <a:solidFill>
                  <a:srgbClr val="FBA000"/>
                </a:solidFill>
                <a:latin typeface="MiSans"/>
                <a:ea typeface="MiSans"/>
              </a:rPr>
              <a:t>■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draft 前向(S22)16.4ms,占 28%</a:t>
            </a:r>
            <a:endParaRPr lang="en-US" sz="1000" noProof="1"/>
          </a:p>
          <a:p>
            <a:pPr algn="l">
              <a:lnSpc>
                <a:spcPct val="160000"/>
              </a:lnSpc>
            </a:pPr>
            <a:r>
              <a:rPr lang="en-US" sz="1000" noProof="1">
                <a:solidFill>
                  <a:srgbClr val="C5C5C5"/>
                </a:solidFill>
                <a:latin typeface="MiSans"/>
                <a:ea typeface="MiSans"/>
              </a:rPr>
              <a:t>■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纯空闲(host 编排)8.1ms,占 14%</a:t>
            </a:r>
            <a:endParaRPr lang="en-US" sz="1000" noProof="1"/>
          </a:p>
        </p:txBody>
      </p:sp>
      <p:sp>
        <p:nvSpPr>
          <p:cNvPr id="18" name="bubble-label"/>
          <p:cNvSpPr txBox="1"/>
          <p:nvPr/>
        </p:nvSpPr>
        <p:spPr>
          <a:xfrm>
            <a:off x="6858000" y="3378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空泡构成(42% 的周期)</a:t>
            </a:r>
            <a:endParaRPr lang="en-US" sz="1200" noProof="1"/>
          </a:p>
        </p:txBody>
      </p:sp>
      <p:sp>
        <p:nvSpPr>
          <p:cNvPr id="19" name="bubble-body"/>
          <p:cNvSpPr txBox="1"/>
          <p:nvPr/>
        </p:nvSpPr>
        <p:spPr>
          <a:xfrm>
            <a:off x="6858000" y="36576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① draft 串行 16.4ms(28%)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— 投机结构 verify→draft 严格串行;acceptance≈1.07 使该段几乎白花。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最大单点问题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,怀疑 fake-accept 环境变量 / verify 路径未生效(dummy 权重)。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② host 编排 8.1ms(14%)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— S25 空闲扣除 draft 后剩 7.5ms(116 窗口,p50 3.6ms);窗口内设备各流近乎全空转 →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设备在等 CPU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(组 batch / 接受判定 / 采样 / KV 簿记 / enqueue)。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③ 通信等待 ≈0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 — 无长 CCU 等待、无慢卡(16 rank FIA p50 = 11.8~12.0ms 完全一致)、无 TP allreduce 大等待。旧配置三大空泡源在此拓扑全部消失。</a:t>
            </a:r>
            <a:endParaRPr lang="en-US" sz="1000" noProof="1"/>
          </a:p>
        </p:txBody>
      </p:sp>
      <p:sp>
        <p:nvSpPr>
          <p:cNvPr id="20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21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22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5 / 12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实测分析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【实测】full-attn 层 12.9ms 一家独大;通算比 86:8 且通信零等待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layer-table"/>
          <p:cNvGraphicFramePr>
            <a:graphicFrameLocks noGrp="1"/>
          </p:cNvGraphicFramePr>
          <p:nvPr/>
        </p:nvGraphicFramePr>
        <p:xfrm>
          <a:off x="508000" y="1143000"/>
          <a:ext cx="11176000" cy="2844800"/>
        </p:xfrm>
        <a:graphic>
          <a:graphicData uri="http://schemas.openxmlformats.org/drawingml/2006/table">
            <a:tbl>
              <a:tblPr/>
              <a:tblGrid>
                <a:gridCol w="2905760"/>
                <a:gridCol w="1117600"/>
                <a:gridCol w="1788160"/>
                <a:gridCol w="536448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层 / 模块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单层耗时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构成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full-attn 层(L4 / L8)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~12.9ms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FIA 12.0(93%)+ prolog / o_proj / norm 0.4 + MoE 0.42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KDA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~0.7ms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RecurrentKda 0.15 + conv / gated 0.13 + MoE 0.42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MoE(非融合)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0.42ms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Dispatch 0.16 + Permute 0.01 + GEMM×2 0.19 + Combine 0.04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共享专家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0.27ms/层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SituMxQuant 0.24 +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lm head / router 等矩阵乘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2.1ms/cycle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MatMulV3 合计 113ms / 54 cycle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draft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~3.3ms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draft FIA 2.58 + MLP / 量化 / 通信 0.7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全层 target 前向核对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33.3ms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2×12.9 + 6×0.7 + 共享 / head ~2 ≈ 33.3ms(与主流 busy 吻合)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atio-label"/>
          <p:cNvSpPr txBox="1"/>
          <p:nvPr/>
        </p:nvSpPr>
        <p:spPr>
          <a:xfrm>
            <a:off x="508000" y="41910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通算占比(每 cycle)</a:t>
            </a:r>
            <a:endParaRPr lang="en-US" sz="1200" noProof="1"/>
          </a:p>
        </p:txBody>
      </p:sp>
      <p:sp>
        <p:nvSpPr>
          <p:cNvPr id="8" name="segA"/>
          <p:cNvSpPr/>
          <p:nvPr/>
        </p:nvSpPr>
        <p:spPr>
          <a:xfrm>
            <a:off x="508000" y="4673600"/>
            <a:ext cx="5054600" cy="50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" name="segB"/>
          <p:cNvSpPr/>
          <p:nvPr/>
        </p:nvSpPr>
        <p:spPr>
          <a:xfrm>
            <a:off x="5562600" y="4673600"/>
            <a:ext cx="469900" cy="508000"/>
          </a:xfrm>
          <a:prstGeom prst="rect">
            <a:avLst/>
          </a:prstGeom>
          <a:solidFill>
            <a:srgbClr val="FBA000"/>
          </a:solidFill>
          <a:ln>
            <a:noFill/>
          </a:ln>
        </p:spPr>
      </p:sp>
      <p:sp>
        <p:nvSpPr>
          <p:cNvPr id="10" name="segC"/>
          <p:cNvSpPr/>
          <p:nvPr/>
        </p:nvSpPr>
        <p:spPr>
          <a:xfrm>
            <a:off x="6032500" y="4673600"/>
            <a:ext cx="825500" cy="5080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1" name="segA-label"/>
          <p:cNvSpPr txBox="1"/>
          <p:nvPr/>
        </p:nvSpPr>
        <p:spPr>
          <a:xfrm>
            <a:off x="508000" y="4673600"/>
            <a:ext cx="5054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计算 49.7ms(86%)</a:t>
            </a:r>
            <a:endParaRPr lang="en-US" sz="1100" noProof="1"/>
          </a:p>
        </p:txBody>
      </p:sp>
      <p:sp>
        <p:nvSpPr>
          <p:cNvPr id="12" name="segB-label"/>
          <p:cNvSpPr txBox="1"/>
          <p:nvPr/>
        </p:nvSpPr>
        <p:spPr>
          <a:xfrm>
            <a:off x="5334000" y="4419600"/>
            <a:ext cx="9271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D1D1A"/>
                </a:solidFill>
                <a:latin typeface="MiSans"/>
                <a:ea typeface="MiSans"/>
              </a:rPr>
              <a:t>通信 4.6ms</a:t>
            </a:r>
            <a:endParaRPr lang="en-US" sz="800" noProof="1"/>
          </a:p>
        </p:txBody>
      </p:sp>
      <p:sp>
        <p:nvSpPr>
          <p:cNvPr id="13" name="segC-label"/>
          <p:cNvSpPr txBox="1"/>
          <p:nvPr/>
        </p:nvSpPr>
        <p:spPr>
          <a:xfrm>
            <a:off x="6146800" y="4419600"/>
            <a:ext cx="7747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D1D1A"/>
                </a:solidFill>
                <a:latin typeface="MiSans"/>
                <a:ea typeface="MiSans"/>
              </a:rPr>
              <a:t>空闲 8.1ms</a:t>
            </a:r>
            <a:endParaRPr lang="en-US" sz="800" noProof="1"/>
          </a:p>
        </p:txBody>
      </p:sp>
      <p:sp>
        <p:nvSpPr>
          <p:cNvPr id="14" name="segbar-caption"/>
          <p:cNvSpPr txBox="1"/>
          <p:nvPr/>
        </p:nvSpPr>
        <p:spPr>
          <a:xfrm>
            <a:off x="508000" y="53086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900" noProof="1">
                <a:solidFill>
                  <a:srgbClr val="666666"/>
                </a:solidFill>
                <a:latin typeface="MiSans"/>
                <a:ea typeface="MiSans"/>
              </a:rPr>
              <a:t>计算 = target 33.3 + draft 16.4(串行);通信执行与计算重叠;纯空闲为 host 编排等待。</a:t>
            </a:r>
            <a:endParaRPr lang="en-US" sz="900" noProof="1"/>
          </a:p>
        </p:txBody>
      </p:sp>
      <p:sp>
        <p:nvSpPr>
          <p:cNvPr id="15" name="ratio-note"/>
          <p:cNvSpPr txBox="1"/>
          <p:nvPr/>
        </p:nvSpPr>
        <p:spPr>
          <a:xfrm>
            <a:off x="7239000" y="4191000"/>
            <a:ext cx="4445000" cy="205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CCU_LAUNCH 即通信任务(CCU_SCHED 模式)。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对比 9/6 双机 TP8 配置的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2×18.8ms straggler 等待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,本拓扑完全消失;EP 的 dispatch / combine 以带名字的 MoeDistributeV3 算子呈现。</a:t>
            </a:r>
            <a:endParaRPr lang="en-US" sz="1000" noProof="1"/>
          </a:p>
        </p:txBody>
      </p:sp>
      <p:sp>
        <p:nvSpPr>
          <p:cNvPr id="16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7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8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7 / 12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实测分析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EP128外推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【实测】FIA 有效带宽 403GB/s:连续 KV 路径快 3.8 倍,仍差机器 4 倍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fia-table"/>
          <p:cNvGraphicFramePr>
            <a:graphicFrameLocks noGrp="1"/>
          </p:cNvGraphicFramePr>
          <p:nvPr/>
        </p:nvGraphicFramePr>
        <p:xfrm>
          <a:off x="508000" y="1168400"/>
          <a:ext cx="11176000" cy="2133600"/>
        </p:xfrm>
        <a:graphic>
          <a:graphicData uri="http://schemas.openxmlformats.org/drawingml/2006/table">
            <a:tbl>
              <a:tblPr/>
              <a:tblGrid>
                <a:gridCol w="2905760"/>
                <a:gridCol w="2458720"/>
                <a:gridCol w="1788160"/>
                <a:gridCol w="4023360"/>
              </a:tblGrid>
              <a:tr h="469392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单层 FIA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有效带宽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5547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单机 TP8(分页 PA 路径)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22.7ms @ 8×262K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~106 GB/s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block_table 分页读,decode 8 并发实测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7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本配置 DP4×TP4(连续 KV 路径)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12.0ms @ 16×262K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~403 GB/s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verify 走 _compute_prefill_context:KV gather 进连续 workspace 再算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5547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机器能力(D2D 实测)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~1.6 TB/s 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1.5GB 连续拷贝实测,读+写 3.2TB/s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bw-chart"/>
          <p:cNvGraphicFramePr/>
          <p:nvPr/>
        </p:nvGraphicFramePr>
        <p:xfrm>
          <a:off x="508000" y="3530600"/>
          <a:ext cx="11176000" cy="12446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ev-card"/>
          <p:cNvSpPr/>
          <p:nvPr/>
        </p:nvSpPr>
        <p:spPr>
          <a:xfrm>
            <a:off x="508000" y="4902200"/>
            <a:ext cx="54610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ev-text"/>
          <p:cNvSpPr txBox="1"/>
          <p:nvPr/>
        </p:nvSpPr>
        <p:spPr>
          <a:xfrm>
            <a:off x="711200" y="5029200"/>
            <a:ext cx="5054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两条路径 4× 差距的证据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同一 FIA 算子、同为 262K 级 KV:分页路径(单机 TP8)对 KV 读仅 ~106GB/s;本配置连续 workspace 路径达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403GB/s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,数据量还翻倍(16 vs 8 序列)。两份对照数据构成完整证据链,可直提算子工单。</a:t>
            </a:r>
            <a:endParaRPr lang="en-US" sz="1600" noProof="1"/>
          </a:p>
        </p:txBody>
      </p:sp>
      <p:sp>
        <p:nvSpPr>
          <p:cNvPr id="10" name="room-card"/>
          <p:cNvSpPr/>
          <p:nvPr/>
        </p:nvSpPr>
        <p:spPr>
          <a:xfrm>
            <a:off x="6223000" y="4902200"/>
            <a:ext cx="5461000" cy="1371600"/>
          </a:xfrm>
          <a:prstGeom prst="rect">
            <a:avLst/>
          </a:prstGeom>
          <a:solidFill>
            <a:srgbClr val="FCE0E6"/>
          </a:solidFill>
          <a:ln>
            <a:noFill/>
          </a:ln>
        </p:spPr>
      </p:sp>
      <p:sp>
        <p:nvSpPr>
          <p:cNvPr id="11" name="room-text"/>
          <p:cNvSpPr txBox="1"/>
          <p:nvPr/>
        </p:nvSpPr>
        <p:spPr>
          <a:xfrm>
            <a:off x="6426200" y="5029200"/>
            <a:ext cx="5054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剩余 4× 空间的量级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若带宽修到 1.6TB/s:单层 12.0→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3ms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,本配置 cycle 57.7→~40ms;93 层外推里 MLA 项 298→74ms,TPOT 再降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1.9 倍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。与 acceptance 并列为两大杠杆。</a:t>
            </a:r>
            <a:endParaRPr lang="en-US" sz="1600" noProof="1"/>
          </a:p>
        </p:txBody>
      </p:sp>
      <p:sp>
        <p:nvSpPr>
          <p:cNvPr id="12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3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4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8 / 12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实测分析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EP128外推</a:t>
            </a: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　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【外推】TPOT 由 attention 锁死:acceptance 与 FIA 带宽是两根大杠杆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lever-table"/>
          <p:cNvGraphicFramePr>
            <a:graphicFrameLocks noGrp="1"/>
          </p:cNvGraphicFramePr>
          <p:nvPr/>
        </p:nvGraphicFramePr>
        <p:xfrm>
          <a:off x="508000" y="1168400"/>
          <a:ext cx="11176000" cy="2133600"/>
        </p:xfrm>
        <a:graphic>
          <a:graphicData uri="http://schemas.openxmlformats.org/drawingml/2006/table">
            <a:tbl>
              <a:tblPr/>
              <a:tblGrid>
                <a:gridCol w="4470400"/>
                <a:gridCol w="4023360"/>
                <a:gridCol w="2682240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杠杆(n=1 基准)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TPOT 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倍数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acceptance 1.07 → 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436 → 78ms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×5.6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FIA 带宽 403→1600 GB/s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78 → 40ms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×1.9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两者叠加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436 → ~20ms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×20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EP 通信 n:1→8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78 → 121ms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+55%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lever-note"/>
          <p:cNvSpPr txBox="1"/>
          <p:nvPr/>
        </p:nvSpPr>
        <p:spPr>
          <a:xfrm>
            <a:off x="508000" y="3403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66666"/>
                </a:solidFill>
                <a:latin typeface="MiSans"/>
                <a:ea typeface="MiSans"/>
              </a:rPr>
              <a:t>acceptance 按假设 6(draft 高接受);FIA 带宽按机器实测能力封顶。</a:t>
            </a:r>
            <a:endParaRPr lang="en-US" sz="900" noProof="1"/>
          </a:p>
        </p:txBody>
      </p:sp>
      <p:sp>
        <p:nvSpPr>
          <p:cNvPr id="8" name="pt1-panel"/>
          <p:cNvSpPr/>
          <p:nvPr/>
        </p:nvSpPr>
        <p:spPr>
          <a:xfrm>
            <a:off x="508000" y="3810000"/>
            <a:ext cx="3556000" cy="2006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pt1-text"/>
          <p:cNvSpPr txBox="1"/>
          <p:nvPr/>
        </p:nvSpPr>
        <p:spPr>
          <a:xfrm>
            <a:off x="711200" y="3987800"/>
            <a:ext cx="31496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00000"/>
                </a:solidFill>
                <a:latin typeface="MiSans"/>
                <a:ea typeface="MiSans"/>
              </a:rPr>
              <a:t>①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 层数扩张的代价几乎全在 FIA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MLA×24 =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298ms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,占 n=1 时 cycle 的 </a:t>
            </a:r>
            <a:r>
              <a:rPr lang="en-US" sz="1000" noProof="1" b="1">
                <a:solidFill>
                  <a:srgbClr val="1D1D1A"/>
                </a:solidFill>
                <a:latin typeface="MiSans"/>
                <a:ea typeface="MiSans"/>
              </a:rPr>
              <a:t>64%</a:t>
            </a: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;MoE 即使 n=8 也只有 ~360ms,且其中 294ms 是通信。</a:t>
            </a:r>
            <a:endParaRPr lang="en-US" sz="1600" noProof="1"/>
          </a:p>
        </p:txBody>
      </p:sp>
      <p:sp>
        <p:nvSpPr>
          <p:cNvPr id="10" name="pt2-panel"/>
          <p:cNvSpPr/>
          <p:nvPr/>
        </p:nvSpPr>
        <p:spPr>
          <a:xfrm>
            <a:off x="4318000" y="3810000"/>
            <a:ext cx="3556000" cy="2006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pt2-text"/>
          <p:cNvSpPr txBox="1"/>
          <p:nvPr/>
        </p:nvSpPr>
        <p:spPr>
          <a:xfrm>
            <a:off x="4521200" y="3987800"/>
            <a:ext cx="31496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00000"/>
                </a:solidFill>
                <a:latin typeface="MiSans"/>
                <a:ea typeface="MiSans"/>
              </a:rPr>
              <a:t>②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 EP 放大只作用 dispatch/combine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实测基数 0.20ms/层极轻,n=8 也只 +55% —— n 的敏感性远小于 acceptance 和 FIA。</a:t>
            </a:r>
            <a:endParaRPr lang="en-US" sz="1600" noProof="1"/>
          </a:p>
        </p:txBody>
      </p:sp>
      <p:sp>
        <p:nvSpPr>
          <p:cNvPr id="12" name="pt3-panel"/>
          <p:cNvSpPr/>
          <p:nvPr/>
        </p:nvSpPr>
        <p:spPr>
          <a:xfrm>
            <a:off x="8128000" y="3810000"/>
            <a:ext cx="3556000" cy="2006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pt3-text"/>
          <p:cNvSpPr txBox="1"/>
          <p:nvPr/>
        </p:nvSpPr>
        <p:spPr>
          <a:xfrm>
            <a:off x="8331200" y="3987800"/>
            <a:ext cx="31496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00000"/>
                </a:solidFill>
                <a:latin typeface="MiSans"/>
                <a:ea typeface="MiSans"/>
              </a:rPr>
              <a:t>③</a:t>
            </a: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 假设声明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1D1D1A"/>
                </a:solidFill>
                <a:latin typeface="MiSans"/>
                <a:ea typeface="MiSans"/>
              </a:rPr>
              <a:t>attention 单价沿用实测(EP128 下每 TP 组序列×KV 同本次);杂项按层线性;单卡并发形态差异未计入(若更小并发,TPOT 再降)。</a:t>
            </a:r>
            <a:endParaRPr lang="en-US" sz="1600" noProof="1"/>
          </a:p>
        </p:txBody>
      </p:sp>
      <p:sp>
        <p:nvSpPr>
          <p:cNvPr id="14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15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6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10 / 12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5334000" y="177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摘要　采集口径　实测分析　EP128外推　</a:t>
            </a:r>
            <a:r>
              <a:rPr lang="en-US" sz="1000" noProof="1" b="1">
                <a:solidFill>
                  <a:srgbClr val="C00000"/>
                </a:solidFill>
                <a:latin typeface="MiSans"/>
                <a:ea typeface="MiSans"/>
              </a:rPr>
              <a:t>结论建议</a:t>
            </a:r>
            <a:endParaRPr lang="en-US" sz="1000" noProof="1"/>
          </a:p>
        </p:txBody>
      </p:sp>
      <p:sp>
        <p:nvSpPr>
          <p:cNvPr id="3" name="title-bar"/>
          <p:cNvSpPr/>
          <p:nvPr/>
        </p:nvSpPr>
        <p:spPr>
          <a:xfrm>
            <a:off x="508000" y="508000"/>
            <a:ext cx="76200" cy="3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page-title"/>
          <p:cNvSpPr txBox="1"/>
          <p:nvPr/>
        </p:nvSpPr>
        <p:spPr>
          <a:xfrm>
            <a:off x="711200" y="431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D1D1A"/>
                </a:solidFill>
                <a:latin typeface="MiSans"/>
                <a:ea typeface="MiSans"/>
              </a:rPr>
              <a:t>【建议】优先级:修投机接受 &gt; FIA 算子带宽 &gt; 压 host 空闲</a:t>
            </a:r>
            <a:endParaRPr lang="en-US" sz="2100" noProof="1"/>
          </a:p>
        </p:txBody>
      </p:sp>
      <p:sp>
        <p:nvSpPr>
          <p:cNvPr id="5" name="head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graphicFrame>
        <p:nvGraphicFramePr>
          <p:cNvPr id="6" name="action-table"/>
          <p:cNvGraphicFramePr>
            <a:graphicFrameLocks noGrp="1"/>
          </p:cNvGraphicFramePr>
          <p:nvPr/>
        </p:nvGraphicFramePr>
        <p:xfrm>
          <a:off x="508000" y="1168400"/>
          <a:ext cx="11176000" cy="4140200"/>
        </p:xfrm>
        <a:graphic>
          <a:graphicData uri="http://schemas.openxmlformats.org/drawingml/2006/table">
            <a:tbl>
              <a:tblPr/>
              <a:tblGrid>
                <a:gridCol w="1005840"/>
                <a:gridCol w="2682240"/>
                <a:gridCol w="1899920"/>
                <a:gridCol w="5588000"/>
              </a:tblGrid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预期收益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依据 / 落点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P0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查投机解码为何不接受 draft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TPOT </a:t>
                      </a: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×5.6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acceptance 实测 1.07,draft 16.4ms/cycle 纯开销;查 VLLM_ASCEND_FAKE_ACCEPT_RATE 与 verify 路径;修复前可关投机(TPOT 41ms 反而更快)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P0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FIA 算子带宽优化(403→1600 GB/s)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TPOT </a:t>
                      </a:r>
                      <a:r>
                        <a:rPr lang="en-US" sz="10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×1.9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分页 vs 连续路径 4× 差距 + roofline 证据链已齐,提算子工单;单层 12→3ms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P1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压 host 编排空闲 8.1ms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~10%(本配置口径)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异步调度 / verify 采样下沉 / 减少 host 同步点;93 层外推中占比降至 ~2%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P2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测 EP 通信放大系数 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收敛外推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四机 EP32 先采一档 dispatch/combine,代入 cycle = 430+37n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690033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通信侧 / 慢卡:无需动作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通算比 86:8 且零等待;16 rank 完全均匀(旧机 NPU3/4 告警不复现)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5C5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ction-note"/>
          <p:cNvSpPr txBox="1"/>
          <p:nvPr/>
        </p:nvSpPr>
        <p:spPr>
          <a:xfrm>
            <a:off x="508000" y="5486400"/>
            <a:ext cx="1117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配套材料:decode_256k_c64_v2_report.md(完整分析)/ decode_256k_c64_v2/(16 rank 原始数据)/ KimiK3_10T外推方法报告.md(外推口径)。</a:t>
            </a:r>
            <a:endParaRPr lang="en-US" sz="1000" noProof="1"/>
          </a:p>
        </p:txBody>
      </p:sp>
      <p:sp>
        <p:nvSpPr>
          <p:cNvPr id="8" name="foot-line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C5C5C5"/>
          </a:solidFill>
          <a:ln>
            <a:noFill/>
          </a:ln>
        </p:spPr>
      </p:sp>
      <p:sp>
        <p:nvSpPr>
          <p:cNvPr id="9" name="foot-left"/>
          <p:cNvSpPr txBox="1"/>
          <p:nvPr/>
        </p:nvSpPr>
        <p:spPr>
          <a:xfrm>
            <a:off x="508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10" name="foot-right"/>
          <p:cNvSpPr txBox="1"/>
          <p:nvPr/>
        </p:nvSpPr>
        <p:spPr>
          <a:xfrm>
            <a:off x="8890000" y="650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11 / 12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D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stri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thanks"/>
          <p:cNvSpPr txBox="1"/>
          <p:nvPr/>
        </p:nvSpPr>
        <p:spPr>
          <a:xfrm>
            <a:off x="1016000" y="2413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800" noProof="1" b="1">
                <a:solidFill>
                  <a:srgbClr val="FFFFFF"/>
                </a:solidFill>
                <a:latin typeface="MiSans"/>
                <a:ea typeface="MiSans"/>
              </a:rPr>
              <a:t>Thank you.</a:t>
            </a:r>
            <a:endParaRPr lang="en-US" sz="1600" noProof="1"/>
          </a:p>
        </p:txBody>
      </p:sp>
      <p:sp>
        <p:nvSpPr>
          <p:cNvPr id="4" name="thanks-bar"/>
          <p:cNvSpPr/>
          <p:nvPr/>
        </p:nvSpPr>
        <p:spPr>
          <a:xfrm>
            <a:off x="1016000" y="3479800"/>
            <a:ext cx="11176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1016000" y="38100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C5C5C5"/>
                </a:solidFill>
                <a:latin typeface="MiSans"/>
                <a:ea typeface="MiSans"/>
              </a:rPr>
              <a:t>把数字世界带入每个人、每个家庭、每个组织,构建万物互联的智能世界。</a:t>
            </a:r>
            <a:endParaRPr lang="en-US" sz="1400" noProof="1"/>
          </a:p>
        </p:txBody>
      </p:sp>
      <p:sp>
        <p:nvSpPr>
          <p:cNvPr id="6" name="copyright"/>
          <p:cNvSpPr txBox="1"/>
          <p:nvPr/>
        </p:nvSpPr>
        <p:spPr>
          <a:xfrm>
            <a:off x="1016000" y="574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Copyright©2026 Huawei Technologies Co., Ltd. All Rights Reserved.</a:t>
            </a:r>
            <a:endParaRPr lang="en-US" sz="10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929292"/>
                </a:solidFill>
                <a:latin typeface="MiSans"/>
                <a:ea typeface="MiSans"/>
              </a:rPr>
              <a:t>数据口径详见 decode_256k_c64_v2_report.md;原始 profiling:prof_10t/EP16/decode_256k_c64_v2(16 rank)。</a:t>
            </a:r>
            <a:endParaRPr lang="en-US" sz="1000" noProof="1"/>
          </a:p>
        </p:txBody>
      </p:sp>
      <p:sp>
        <p:nvSpPr>
          <p:cNvPr id="7" name="foot-line"/>
          <p:cNvSpPr/>
          <p:nvPr/>
        </p:nvSpPr>
        <p:spPr>
          <a:xfrm>
            <a:off x="1016000" y="6350000"/>
            <a:ext cx="10160000" cy="1270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8" name="foot-left"/>
          <p:cNvSpPr txBox="1"/>
          <p:nvPr/>
        </p:nvSpPr>
        <p:spPr>
          <a:xfrm>
            <a:off x="1016000" y="645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Huawei Confidential</a:t>
            </a:r>
            <a:endParaRPr lang="en-US" sz="900" noProof="1"/>
          </a:p>
        </p:txBody>
      </p:sp>
      <p:sp>
        <p:nvSpPr>
          <p:cNvPr id="9" name="foot-right"/>
          <p:cNvSpPr txBox="1"/>
          <p:nvPr/>
        </p:nvSpPr>
        <p:spPr>
          <a:xfrm>
            <a:off x="8636000" y="6451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29292"/>
                </a:solidFill>
                <a:latin typeface="MiSans"/>
                <a:ea typeface="MiSans"/>
              </a:rPr>
              <a:t>Page 12 / 12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12</Slides>
</Properties>
</file>

<file path=docProps/core.xml><?xml version="1.0" encoding="utf-8"?>
<cp:coreProperties xmlns:dc="http://purl.org/dc/elements/1.1/" xmlns:cp="http://schemas.openxmlformats.org/package/2006/metadata/core-properties">
  <dc:title>Kimi-K3 10T外推 256K×64并发 Decode Profiling分析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